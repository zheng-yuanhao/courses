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57.xml" ContentType="application/vnd.openxmlformats-officedocument.presentationml.tags+xml"/>
  <Override PartName="/ppt/notesSlides/notesSlide19.xml" ContentType="application/vnd.openxmlformats-officedocument.presentationml.notesSlide+xml"/>
  <Override PartName="/ppt/tags/tag58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5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579" r:id="rId2"/>
    <p:sldId id="556" r:id="rId3"/>
    <p:sldId id="581" r:id="rId4"/>
    <p:sldId id="582" r:id="rId5"/>
    <p:sldId id="583" r:id="rId6"/>
    <p:sldId id="584" r:id="rId7"/>
    <p:sldId id="585" r:id="rId8"/>
    <p:sldId id="586" r:id="rId9"/>
    <p:sldId id="587" r:id="rId10"/>
    <p:sldId id="588" r:id="rId11"/>
    <p:sldId id="568" r:id="rId12"/>
    <p:sldId id="572" r:id="rId13"/>
    <p:sldId id="569" r:id="rId14"/>
    <p:sldId id="576" r:id="rId15"/>
    <p:sldId id="575" r:id="rId16"/>
    <p:sldId id="577" r:id="rId17"/>
    <p:sldId id="578" r:id="rId18"/>
    <p:sldId id="589" r:id="rId19"/>
    <p:sldId id="571" r:id="rId20"/>
    <p:sldId id="593" r:id="rId21"/>
    <p:sldId id="594" r:id="rId22"/>
    <p:sldId id="595" r:id="rId23"/>
    <p:sldId id="557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8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7"/>
    <a:srgbClr val="2F5597"/>
    <a:srgbClr val="1F4E79"/>
    <a:srgbClr val="B1C2D6"/>
    <a:srgbClr val="2E75B6"/>
    <a:srgbClr val="8FAADC"/>
    <a:srgbClr val="8DA1C4"/>
    <a:srgbClr val="182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554" autoAdjust="0"/>
  </p:normalViewPr>
  <p:slideViewPr>
    <p:cSldViewPr snapToGrid="0" showGuides="1">
      <p:cViewPr varScale="1">
        <p:scale>
          <a:sx n="104" d="100"/>
          <a:sy n="104" d="100"/>
        </p:scale>
        <p:origin x="1195" y="82"/>
      </p:cViewPr>
      <p:guideLst>
        <p:guide orient="horz" pos="2258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7308E-CB75-4937-8AB5-A3598BE66253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DA2A2-8270-4ED5-BF5C-C8E0B3242FE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101214"/>
                </a:solidFill>
                <a:effectLst/>
                <a:latin typeface="PingFang SC"/>
              </a:rPr>
              <a:t>Microorganisms such as bacteria, viruses, and fungi are responsible for foodborne illnesses, which can be severe or even fatal.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101214"/>
                </a:solidFill>
                <a:effectLst/>
                <a:latin typeface="PingFang SC"/>
              </a:rPr>
              <a:t>Heat treatment is a crucial process in the food industry to ensure microbiological safety and extend the shelf life of food products.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dirty="0"/>
              <a:t>Earlier studies xxx. These studies typically used classical microbiological methods to describe microbial growth and survival. 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First, use </a:t>
            </a:r>
            <a:r>
              <a:rPr lang="en-US" altLang="zh-CN" dirty="0" err="1"/>
              <a:t>grabit</a:t>
            </a:r>
            <a:r>
              <a:rPr lang="en-US" altLang="zh-CN" dirty="0"/>
              <a:t> to </a:t>
            </a:r>
            <a:r>
              <a:rPr lang="en-US" altLang="zh-CN" b="0" i="0" dirty="0">
                <a:solidFill>
                  <a:srgbClr val="101214"/>
                </a:solidFill>
                <a:effectLst/>
                <a:latin typeface="PingFang SC"/>
              </a:rPr>
              <a:t>extract data on time and microbial load from the literature at three heating rates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Then, Use known parameters to predict Y. Plot Y and the data to ensure that the parameters are reasonably close to the real ones.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These are the sensitivity coefficients for each parameter , the parameters can be estimated are beta0(1) and beta0(2),  and </a:t>
            </a:r>
            <a:r>
              <a:rPr lang="en-US" altLang="zh-CN" sz="1800" b="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each of the two parameters could be separately estimated.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2A2B2E"/>
                </a:solidFill>
                <a:effectLst/>
                <a:latin typeface="PingFang SC"/>
              </a:rPr>
              <a:t>By observing the size of the SSC, </a:t>
            </a:r>
            <a:r>
              <a:rPr lang="en-US" altLang="zh-CN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beta1 </a:t>
            </a:r>
            <a:r>
              <a:rPr lang="en-US" altLang="zh-CN" sz="12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is easier to estimate </a:t>
            </a:r>
            <a:r>
              <a:rPr lang="en-US" altLang="zh-CN"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than beta2.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hello, everyone! I am Cui Ruiyan. </a:t>
            </a:r>
            <a:r>
              <a:rPr lang="en-US" altLang="zh-CN" dirty="0">
                <a:sym typeface="+mn-ea"/>
              </a:rPr>
              <a:t>Then I will show our inverse process.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DE5AE-854A-4B80-820C-1ACCD978BA3B}" type="datetimeFigureOut">
              <a:rPr lang="zh-CN" altLang="en-US" smtClean="0"/>
              <a:t>2023/6/14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2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4.bin"/><Relationship Id="rId2" Type="http://schemas.openxmlformats.org/officeDocument/2006/relationships/tags" Target="../tags/tag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21.wmf"/><Relationship Id="rId5" Type="http://schemas.openxmlformats.org/officeDocument/2006/relationships/image" Target="../media/image11.png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3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21" Type="http://schemas.openxmlformats.org/officeDocument/2006/relationships/image" Target="../media/image33.emf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image" Target="../media/image11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19" Type="http://schemas.openxmlformats.org/officeDocument/2006/relationships/notesSlide" Target="../notesSlides/notesSlide12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6.emf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35.emf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34.emf"/><Relationship Id="rId5" Type="http://schemas.openxmlformats.org/officeDocument/2006/relationships/tags" Target="../tags/tag29.xml"/><Relationship Id="rId10" Type="http://schemas.openxmlformats.org/officeDocument/2006/relationships/image" Target="../media/image11.png"/><Relationship Id="rId4" Type="http://schemas.openxmlformats.org/officeDocument/2006/relationships/tags" Target="../tags/tag28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9.emf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38.emf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37.emf"/><Relationship Id="rId5" Type="http://schemas.openxmlformats.org/officeDocument/2006/relationships/tags" Target="../tags/tag36.xml"/><Relationship Id="rId10" Type="http://schemas.openxmlformats.org/officeDocument/2006/relationships/image" Target="../media/image11.png"/><Relationship Id="rId4" Type="http://schemas.openxmlformats.org/officeDocument/2006/relationships/tags" Target="../tags/tag35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41.emf"/><Relationship Id="rId5" Type="http://schemas.openxmlformats.org/officeDocument/2006/relationships/tags" Target="../tags/tag43.xml"/><Relationship Id="rId10" Type="http://schemas.openxmlformats.org/officeDocument/2006/relationships/image" Target="../media/image40.emf"/><Relationship Id="rId4" Type="http://schemas.openxmlformats.org/officeDocument/2006/relationships/tags" Target="../tags/tag42.xml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3" Type="http://schemas.openxmlformats.org/officeDocument/2006/relationships/tags" Target="../tags/tag47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43.emf"/><Relationship Id="rId5" Type="http://schemas.openxmlformats.org/officeDocument/2006/relationships/tags" Target="../tags/tag49.xml"/><Relationship Id="rId10" Type="http://schemas.openxmlformats.org/officeDocument/2006/relationships/image" Target="../media/image42.emf"/><Relationship Id="rId4" Type="http://schemas.openxmlformats.org/officeDocument/2006/relationships/tags" Target="../tags/tag48.xml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3" Type="http://schemas.openxmlformats.org/officeDocument/2006/relationships/tags" Target="../tags/tag5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45.emf"/><Relationship Id="rId5" Type="http://schemas.openxmlformats.org/officeDocument/2006/relationships/tags" Target="../tags/tag55.xml"/><Relationship Id="rId10" Type="http://schemas.openxmlformats.org/officeDocument/2006/relationships/image" Target="../media/image44.emf"/><Relationship Id="rId4" Type="http://schemas.openxmlformats.org/officeDocument/2006/relationships/tags" Target="../tags/tag54.xml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2.png"/><Relationship Id="rId4" Type="http://schemas.openxmlformats.org/officeDocument/2006/relationships/image" Target="../media/image11.png"/><Relationship Id="rId9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Relationship Id="rId6" Type="http://schemas.openxmlformats.org/officeDocument/2006/relationships/image" Target="../media/image53.png"/><Relationship Id="rId5" Type="http://schemas.openxmlformats.org/officeDocument/2006/relationships/image" Target="../media/image50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21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0.png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23.wmf"/><Relationship Id="rId2" Type="http://schemas.openxmlformats.org/officeDocument/2006/relationships/tags" Target="../tags/tag59.xml"/><Relationship Id="rId16" Type="http://schemas.openxmlformats.org/officeDocument/2006/relationships/oleObject" Target="../embeddings/oleObject10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11" Type="http://schemas.openxmlformats.org/officeDocument/2006/relationships/image" Target="../media/image20.wmf"/><Relationship Id="rId5" Type="http://schemas.openxmlformats.org/officeDocument/2006/relationships/image" Target="../media/image55.jpeg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7.bin"/><Relationship Id="rId4" Type="http://schemas.openxmlformats.org/officeDocument/2006/relationships/notesSlide" Target="../notesSlides/notesSlide22.xml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8691" y="1769008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4" name="图形 2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2218" y="213085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3" name="图形 2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4966" y="4615171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11" name="矩形 10"/>
          <p:cNvSpPr/>
          <p:nvPr/>
        </p:nvSpPr>
        <p:spPr>
          <a:xfrm>
            <a:off x="6778975" y="1392996"/>
            <a:ext cx="4761716" cy="4141530"/>
          </a:xfrm>
          <a:prstGeom prst="rect">
            <a:avLst/>
          </a:prstGeom>
          <a:noFill/>
          <a:ln w="635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-44848" y="1966552"/>
            <a:ext cx="12236848" cy="2964036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73225" y="2596515"/>
            <a:ext cx="97212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Microbial Inactivation for </a:t>
            </a:r>
            <a:r>
              <a:rPr lang="en-US" altLang="zh-CN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nonisothermal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conditions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——Final report by group 3</a:t>
            </a:r>
            <a:endParaRPr lang="en-US" altLang="zh-CN" sz="3200" noProof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62" y="2853089"/>
            <a:ext cx="1387140" cy="115182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5400" y="293382"/>
            <a:ext cx="1508654" cy="529352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893" y="497348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1" name="图形 2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54308" y="118001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2" name="图形 2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4966" y="562017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" name="文本框 1"/>
          <p:cNvSpPr txBox="1"/>
          <p:nvPr/>
        </p:nvSpPr>
        <p:spPr>
          <a:xfrm>
            <a:off x="7027809" y="1539038"/>
            <a:ext cx="426404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i="1" dirty="0">
                <a:solidFill>
                  <a:srgbClr val="003F87"/>
                </a:solidFill>
                <a:latin typeface="+mj-ea"/>
                <a:ea typeface="+mj-ea"/>
              </a:rPr>
              <a:t>生物系统工程分析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04502" y="5063280"/>
            <a:ext cx="1510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i="1" dirty="0">
                <a:solidFill>
                  <a:srgbClr val="003F87"/>
                </a:solidFill>
                <a:latin typeface="+mj-ea"/>
                <a:ea typeface="+mj-ea"/>
              </a:rPr>
              <a:t>课程展示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2275" y="5723255"/>
            <a:ext cx="5343525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3450" indent="151130" algn="just">
              <a:lnSpc>
                <a:spcPct val="125000"/>
              </a:lnSpc>
            </a:pPr>
            <a:r>
              <a:rPr lang="zh-CN" altLang="en-US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组员：黄怡婷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崔蕊艳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郑元浩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endParaRPr lang="zh-CN" altLang="zh-CN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933450" indent="151130" algn="just">
              <a:lnSpc>
                <a:spcPct val="125000"/>
              </a:lnSpc>
            </a:pPr>
            <a:r>
              <a:rPr lang="en-US" altLang="zh-CN" b="1" kern="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          </a:t>
            </a:r>
            <a:endParaRPr lang="zh-CN" altLang="zh-CN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82100" y="6011343"/>
            <a:ext cx="2006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2023. 06. 15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20" grpId="0" bldLvl="0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-1"/>
            <a:ext cx="2671482" cy="6858002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55088" y="4268596"/>
            <a:ext cx="2282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CON-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TENTS</a:t>
            </a:r>
            <a:endParaRPr kumimoji="0" lang="zh-CN" altLang="en-US" sz="50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任意多边形: 形状 10"/>
          <p:cNvSpPr/>
          <p:nvPr/>
        </p:nvSpPr>
        <p:spPr>
          <a:xfrm flipV="1">
            <a:off x="2" y="-1"/>
            <a:ext cx="2671481" cy="5301221"/>
          </a:xfrm>
          <a:custGeom>
            <a:avLst/>
            <a:gdLst>
              <a:gd name="connsiteX0" fmla="*/ 0 w 12191999"/>
              <a:gd name="connsiteY0" fmla="*/ 2126064 h 2126064"/>
              <a:gd name="connsiteX1" fmla="*/ 12191999 w 12191999"/>
              <a:gd name="connsiteY1" fmla="*/ 2126064 h 2126064"/>
              <a:gd name="connsiteX2" fmla="*/ 0 w 12191999"/>
              <a:gd name="connsiteY2" fmla="*/ 0 h 2126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1999" h="2126064">
                <a:moveTo>
                  <a:pt x="0" y="2126064"/>
                </a:moveTo>
                <a:lnTo>
                  <a:pt x="12191999" y="21260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V="1">
            <a:off x="1" y="-2"/>
            <a:ext cx="1174589" cy="2330826"/>
          </a:xfrm>
          <a:custGeom>
            <a:avLst/>
            <a:gdLst>
              <a:gd name="connsiteX0" fmla="*/ 0 w 845081"/>
              <a:gd name="connsiteY0" fmla="*/ 695700 h 695700"/>
              <a:gd name="connsiteX1" fmla="*/ 845081 w 845081"/>
              <a:gd name="connsiteY1" fmla="*/ 695700 h 695700"/>
              <a:gd name="connsiteX2" fmla="*/ 0 w 845081"/>
              <a:gd name="connsiteY2" fmla="*/ 0 h 695700"/>
              <a:gd name="connsiteX3" fmla="*/ 0 w 845081"/>
              <a:gd name="connsiteY3" fmla="*/ 695700 h 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081" h="695700">
                <a:moveTo>
                  <a:pt x="0" y="695700"/>
                </a:moveTo>
                <a:lnTo>
                  <a:pt x="845081" y="695700"/>
                </a:lnTo>
                <a:lnTo>
                  <a:pt x="0" y="0"/>
                </a:lnTo>
                <a:lnTo>
                  <a:pt x="0" y="69570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38" name="图形 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440" y="365509"/>
            <a:ext cx="2161308" cy="5994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310995" y="977505"/>
            <a:ext cx="5831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Introduction</a:t>
            </a: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310995" y="1912225"/>
            <a:ext cx="5831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Forward process</a:t>
            </a:r>
            <a:endParaRPr lang="en-US" altLang="zh-CN" sz="3200" b="1" dirty="0">
              <a:solidFill>
                <a:srgbClr val="003F8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310996" y="2847580"/>
            <a:ext cx="58305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Inverse process </a:t>
            </a: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and analysis</a:t>
            </a:r>
            <a:endParaRPr lang="en-US" altLang="zh-CN" sz="3200" b="1" dirty="0">
              <a:solidFill>
                <a:srgbClr val="003F8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310995" y="3782935"/>
            <a:ext cx="58305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</a:t>
            </a:r>
            <a:r>
              <a:rPr lang="zh-CN" altLang="en-US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OptExp</a:t>
            </a: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 Design and Bootstrap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0995" y="4717655"/>
            <a:ext cx="58305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</a:t>
            </a:r>
            <a:r>
              <a:rPr lang="en-US" altLang="zh-CN" sz="32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Summary</a:t>
            </a:r>
            <a:endParaRPr lang="en-US" altLang="zh-CN" sz="3200" b="1" dirty="0">
              <a:solidFill>
                <a:srgbClr val="003F8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550894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0" y="0"/>
            <a:ext cx="3603812" cy="1550890"/>
          </a:xfrm>
          <a:prstGeom prst="parallelogram">
            <a:avLst>
              <a:gd name="adj" fmla="val 69509"/>
            </a:avLst>
          </a:prstGeom>
          <a:solidFill>
            <a:srgbClr val="2F5597"/>
          </a:solidFill>
          <a:ln>
            <a:solidFill>
              <a:srgbClr val="2F559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形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68" y="475734"/>
            <a:ext cx="2161308" cy="599425"/>
          </a:xfrm>
          <a:prstGeom prst="rect">
            <a:avLst/>
          </a:prstGeom>
        </p:spPr>
      </p:pic>
      <p:sp>
        <p:nvSpPr>
          <p:cNvPr id="62" name="任意多边形: 形状 61"/>
          <p:cNvSpPr/>
          <p:nvPr/>
        </p:nvSpPr>
        <p:spPr>
          <a:xfrm flipV="1">
            <a:off x="0" y="-4"/>
            <a:ext cx="1075765" cy="1550890"/>
          </a:xfrm>
          <a:custGeom>
            <a:avLst/>
            <a:gdLst>
              <a:gd name="connsiteX0" fmla="*/ 0 w 845081"/>
              <a:gd name="connsiteY0" fmla="*/ 695700 h 695700"/>
              <a:gd name="connsiteX1" fmla="*/ 845081 w 845081"/>
              <a:gd name="connsiteY1" fmla="*/ 695700 h 695700"/>
              <a:gd name="connsiteX2" fmla="*/ 0 w 845081"/>
              <a:gd name="connsiteY2" fmla="*/ 0 h 695700"/>
              <a:gd name="connsiteX3" fmla="*/ 0 w 845081"/>
              <a:gd name="connsiteY3" fmla="*/ 695700 h 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081" h="695700">
                <a:moveTo>
                  <a:pt x="0" y="695700"/>
                </a:moveTo>
                <a:lnTo>
                  <a:pt x="845081" y="695700"/>
                </a:lnTo>
                <a:lnTo>
                  <a:pt x="0" y="0"/>
                </a:lnTo>
                <a:lnTo>
                  <a:pt x="0" y="69570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7623" y="313776"/>
            <a:ext cx="6057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8898" y="3193106"/>
            <a:ext cx="99942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000" y="602724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cxnSp>
        <p:nvCxnSpPr>
          <p:cNvPr id="9" name="直接连接符 8"/>
          <p:cNvCxnSpPr/>
          <p:nvPr/>
        </p:nvCxnSpPr>
        <p:spPr>
          <a:xfrm>
            <a:off x="2451578" y="4274956"/>
            <a:ext cx="7491663" cy="0"/>
          </a:xfrm>
          <a:prstGeom prst="line">
            <a:avLst/>
          </a:prstGeom>
          <a:ln w="19050">
            <a:solidFill>
              <a:srgbClr val="003F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87510" y="5462556"/>
            <a:ext cx="951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1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pPr algn="ctr"/>
            <a:r>
              <a:rPr lang="en-US" altLang="zh-CN" b="0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Kill or reduce the number of harmful microorganisms present in food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816441" y="4920186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Heat treatment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17113" y="3606100"/>
            <a:ext cx="1564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i="0" dirty="0">
                <a:solidFill>
                  <a:srgbClr val="2A2B2E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Clostridium botulinum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0" t="7135" r="8624" b="5884"/>
          <a:stretch>
            <a:fillRect/>
          </a:stretch>
        </p:blipFill>
        <p:spPr bwMode="auto">
          <a:xfrm>
            <a:off x="195281" y="2448452"/>
            <a:ext cx="1292229" cy="115419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7" r="7642"/>
          <a:stretch>
            <a:fillRect/>
          </a:stretch>
        </p:blipFill>
        <p:spPr bwMode="auto">
          <a:xfrm>
            <a:off x="1811636" y="2394893"/>
            <a:ext cx="1346322" cy="119853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1682018" y="3612580"/>
            <a:ext cx="1484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i="0">
                <a:solidFill>
                  <a:srgbClr val="2A2B2E"/>
                </a:solidFill>
                <a:effectLst/>
                <a:latin typeface="PingFang SC"/>
              </a:defRPr>
            </a:lvl1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Aspergillus flavus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362055" y="3568760"/>
            <a:ext cx="1528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i="0">
                <a:solidFill>
                  <a:srgbClr val="2A2B2E"/>
                </a:solidFill>
                <a:effectLst/>
                <a:latin typeface="PingFang SC"/>
              </a:defRPr>
            </a:lvl1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Norwalk Viruses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3" t="16356" r="14867" b="3390"/>
          <a:stretch>
            <a:fillRect/>
          </a:stretch>
        </p:blipFill>
        <p:spPr bwMode="auto">
          <a:xfrm>
            <a:off x="3478363" y="2382317"/>
            <a:ext cx="1350338" cy="118644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088" y="1524381"/>
            <a:ext cx="3484912" cy="316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箭头: 右 17"/>
          <p:cNvSpPr/>
          <p:nvPr/>
        </p:nvSpPr>
        <p:spPr>
          <a:xfrm>
            <a:off x="7929290" y="2780203"/>
            <a:ext cx="784628" cy="75460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5" y="1607477"/>
            <a:ext cx="2961735" cy="296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接连接符 19"/>
          <p:cNvCxnSpPr/>
          <p:nvPr/>
        </p:nvCxnSpPr>
        <p:spPr>
          <a:xfrm>
            <a:off x="4828701" y="2117517"/>
            <a:ext cx="568002" cy="577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4747377" y="3662498"/>
            <a:ext cx="649326" cy="589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星形: 五角 22"/>
          <p:cNvSpPr/>
          <p:nvPr/>
        </p:nvSpPr>
        <p:spPr>
          <a:xfrm>
            <a:off x="1168518" y="5497573"/>
            <a:ext cx="319596" cy="300446"/>
          </a:xfrm>
          <a:prstGeom prst="star5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90261" y="719382"/>
            <a:ext cx="50848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1.1 Background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2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13309" y="1732081"/>
            <a:ext cx="864229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Inactivation</a:t>
            </a:r>
            <a:r>
              <a:rPr lang="en-US" altLang="zh-CN" sz="2400" b="0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refers to the reduction or elimination of microbial organisms during a thermal treatment process.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6"/>
          <a:stretch>
            <a:fillRect/>
          </a:stretch>
        </p:blipFill>
        <p:spPr bwMode="auto">
          <a:xfrm>
            <a:off x="473661" y="1511506"/>
            <a:ext cx="2515957" cy="232368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3113405" y="2769235"/>
            <a:ext cx="8642350" cy="126047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algn="just">
              <a:defRPr sz="2400" b="1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r>
              <a:rPr lang="en-US" altLang="zh-CN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Earlier studies mainly focused on traditional thermal processing techniques, such as pasteurization and sterilization.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4455" y="4356513"/>
            <a:ext cx="89767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0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Predictive microbiology uses mathematical models to predict the growth and survival of microorganisms under different conditions, allowing  for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more precise design of thermal processes that avoid fail-dangerous or overly conservative heat processes.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78"/>
          <a:stretch>
            <a:fillRect/>
          </a:stretch>
        </p:blipFill>
        <p:spPr bwMode="auto">
          <a:xfrm>
            <a:off x="9485956" y="4029496"/>
            <a:ext cx="2449794" cy="23647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90261" y="719382"/>
            <a:ext cx="50848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1.1 Background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559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61" y="76774"/>
            <a:ext cx="1251222" cy="34701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6125" y="1365428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0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1.2.1 Experiment data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32011" y="1936348"/>
            <a:ext cx="10091709" cy="12534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0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Previously published data (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Valdramidis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et al., 2006) were used.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Liquid samples of 100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μL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with initial Escherichia coli K12 microbial concentration ∼10</a:t>
            </a:r>
            <a:r>
              <a:rPr lang="en-US" altLang="zh-CN" sz="2000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9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cfu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/mL were heated at 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three different rates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(fast: 1.64, intermediate: 0.43, or slow: 0.15 °C/min)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86125" y="3764978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0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1.2.2 Models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32011" y="4346426"/>
            <a:ext cx="736536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0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r>
              <a:rPr lang="nl-NL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 Geeraerd et al. models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were used.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13805" y="4669654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sz="280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214438" y="4930775"/>
          <a:ext cx="21574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" r:id="rId6" imgW="1498600" imgH="419100" progId="Equation.DSMT4">
                  <p:embed/>
                </p:oleObj>
              </mc:Choice>
              <mc:Fallback>
                <p:oleObj r:id="rId6" imgW="14986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930775"/>
                        <a:ext cx="2157412" cy="606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442522" y="4922700"/>
          <a:ext cx="2848079" cy="71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" r:id="rId8" imgW="1676400" imgH="419100" progId="Equation.DSMT4">
                  <p:embed/>
                </p:oleObj>
              </mc:Choice>
              <mc:Fallback>
                <p:oleObj r:id="rId8" imgW="16764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2522" y="4922700"/>
                        <a:ext cx="2848079" cy="7120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185773" y="4900528"/>
          <a:ext cx="2168571" cy="70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" r:id="rId10" imgW="1307465" imgH="431800" progId="Equation.DSMT4">
                  <p:embed/>
                </p:oleObj>
              </mc:Choice>
              <mc:Fallback>
                <p:oleObj r:id="rId10" imgW="1307465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5773" y="4900528"/>
                        <a:ext cx="2168571" cy="705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213805" y="5810836"/>
          <a:ext cx="4232563" cy="71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" r:id="rId12" imgW="2717800" imgH="457200" progId="Equation.DSMT4">
                  <p:embed/>
                </p:oleObj>
              </mc:Choice>
              <mc:Fallback>
                <p:oleObj r:id="rId12" imgW="271780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805" y="5810836"/>
                        <a:ext cx="4232563" cy="7120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880917" y="5832184"/>
          <a:ext cx="4518589" cy="71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r:id="rId14" imgW="3149600" imgH="495300" progId="Equation.DSMT4">
                  <p:embed/>
                </p:oleObj>
              </mc:Choice>
              <mc:Fallback>
                <p:oleObj r:id="rId14" imgW="3149600" imgH="495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917" y="5832184"/>
                        <a:ext cx="4518589" cy="7120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90261" y="697260"/>
            <a:ext cx="50848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1.2 Materials and methods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550894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0" y="0"/>
            <a:ext cx="3603812" cy="1550890"/>
          </a:xfrm>
          <a:prstGeom prst="parallelogram">
            <a:avLst>
              <a:gd name="adj" fmla="val 69509"/>
            </a:avLst>
          </a:prstGeom>
          <a:solidFill>
            <a:srgbClr val="2F5597"/>
          </a:solidFill>
          <a:ln>
            <a:solidFill>
              <a:srgbClr val="2F559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形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68" y="475734"/>
            <a:ext cx="2161308" cy="599425"/>
          </a:xfrm>
          <a:prstGeom prst="rect">
            <a:avLst/>
          </a:prstGeom>
        </p:spPr>
      </p:pic>
      <p:sp>
        <p:nvSpPr>
          <p:cNvPr id="62" name="任意多边形: 形状 61"/>
          <p:cNvSpPr/>
          <p:nvPr/>
        </p:nvSpPr>
        <p:spPr>
          <a:xfrm flipV="1">
            <a:off x="0" y="-4"/>
            <a:ext cx="1075765" cy="1550890"/>
          </a:xfrm>
          <a:custGeom>
            <a:avLst/>
            <a:gdLst>
              <a:gd name="connsiteX0" fmla="*/ 0 w 845081"/>
              <a:gd name="connsiteY0" fmla="*/ 695700 h 695700"/>
              <a:gd name="connsiteX1" fmla="*/ 845081 w 845081"/>
              <a:gd name="connsiteY1" fmla="*/ 695700 h 695700"/>
              <a:gd name="connsiteX2" fmla="*/ 0 w 845081"/>
              <a:gd name="connsiteY2" fmla="*/ 0 h 695700"/>
              <a:gd name="connsiteX3" fmla="*/ 0 w 845081"/>
              <a:gd name="connsiteY3" fmla="*/ 695700 h 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081" h="695700">
                <a:moveTo>
                  <a:pt x="0" y="695700"/>
                </a:moveTo>
                <a:lnTo>
                  <a:pt x="845081" y="695700"/>
                </a:lnTo>
                <a:lnTo>
                  <a:pt x="0" y="0"/>
                </a:lnTo>
                <a:lnTo>
                  <a:pt x="0" y="69570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7623" y="313776"/>
            <a:ext cx="6057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8898" y="3168830"/>
            <a:ext cx="99942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Forward problem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000" y="602724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cxnSp>
        <p:nvCxnSpPr>
          <p:cNvPr id="9" name="直接连接符 8"/>
          <p:cNvCxnSpPr/>
          <p:nvPr/>
        </p:nvCxnSpPr>
        <p:spPr>
          <a:xfrm>
            <a:off x="2451578" y="4274956"/>
            <a:ext cx="7491663" cy="0"/>
          </a:xfrm>
          <a:prstGeom prst="line">
            <a:avLst/>
          </a:prstGeom>
          <a:ln w="19050">
            <a:solidFill>
              <a:srgbClr val="003F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304" y="1946331"/>
            <a:ext cx="1534174" cy="3899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l="581"/>
          <a:stretch>
            <a:fillRect/>
          </a:stretch>
        </p:blipFill>
        <p:spPr>
          <a:xfrm>
            <a:off x="5699750" y="1946331"/>
            <a:ext cx="1534174" cy="3899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523" y="1946331"/>
            <a:ext cx="1534174" cy="38991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35305" y="1433195"/>
            <a:ext cx="20726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Heating rates: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07937" y="1433047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0.15 </a:t>
            </a:r>
            <a:r>
              <a:rPr lang="en-US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°C/min</a:t>
            </a:r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23837" y="1433047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0.4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°C/min</a:t>
            </a:r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51610" y="1433047"/>
            <a:ext cx="228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1.64 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°C/min</a:t>
            </a:r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873" y="1784568"/>
            <a:ext cx="3625283" cy="29356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327" y="1783472"/>
            <a:ext cx="3625284" cy="297469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782" y="1764451"/>
            <a:ext cx="3565624" cy="29345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8775" y="4927612"/>
            <a:ext cx="10870387" cy="1420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400" b="0" i="0">
                <a:solidFill>
                  <a:srgbClr val="101214"/>
                </a:solidFill>
                <a:effectLst/>
                <a:latin typeface="PingFang SC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Plotting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 initial predicted response values (`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ypredInit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`)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for `data set 1/2/3` against the corresponding time values (`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xs`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on a plot with red dots representing the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observed data (`yobs2`).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9287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2.1 Make reasonable guesses of the parameters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1" y="2314810"/>
            <a:ext cx="3978965" cy="31183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064" y="2309240"/>
            <a:ext cx="3957872" cy="31183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5160" y="2314810"/>
            <a:ext cx="3942939" cy="3118324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1163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2.2 Plot the SSC for each parameter and Y predicted on the same plot.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550894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0" y="0"/>
            <a:ext cx="3603812" cy="1550890"/>
          </a:xfrm>
          <a:prstGeom prst="parallelogram">
            <a:avLst>
              <a:gd name="adj" fmla="val 69509"/>
            </a:avLst>
          </a:prstGeom>
          <a:solidFill>
            <a:srgbClr val="2F5597"/>
          </a:solidFill>
          <a:ln>
            <a:solidFill>
              <a:srgbClr val="2F559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形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68" y="475734"/>
            <a:ext cx="2161308" cy="599425"/>
          </a:xfrm>
          <a:prstGeom prst="rect">
            <a:avLst/>
          </a:prstGeom>
        </p:spPr>
      </p:pic>
      <p:sp>
        <p:nvSpPr>
          <p:cNvPr id="62" name="任意多边形: 形状 61"/>
          <p:cNvSpPr/>
          <p:nvPr/>
        </p:nvSpPr>
        <p:spPr>
          <a:xfrm flipV="1">
            <a:off x="0" y="-4"/>
            <a:ext cx="1075765" cy="1550890"/>
          </a:xfrm>
          <a:custGeom>
            <a:avLst/>
            <a:gdLst>
              <a:gd name="connsiteX0" fmla="*/ 0 w 845081"/>
              <a:gd name="connsiteY0" fmla="*/ 695700 h 695700"/>
              <a:gd name="connsiteX1" fmla="*/ 845081 w 845081"/>
              <a:gd name="connsiteY1" fmla="*/ 695700 h 695700"/>
              <a:gd name="connsiteX2" fmla="*/ 0 w 845081"/>
              <a:gd name="connsiteY2" fmla="*/ 0 h 695700"/>
              <a:gd name="connsiteX3" fmla="*/ 0 w 845081"/>
              <a:gd name="connsiteY3" fmla="*/ 695700 h 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081" h="695700">
                <a:moveTo>
                  <a:pt x="0" y="695700"/>
                </a:moveTo>
                <a:lnTo>
                  <a:pt x="845081" y="695700"/>
                </a:lnTo>
                <a:lnTo>
                  <a:pt x="0" y="0"/>
                </a:lnTo>
                <a:lnTo>
                  <a:pt x="0" y="69570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7623" y="313776"/>
            <a:ext cx="6057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000" y="602724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cxnSp>
        <p:nvCxnSpPr>
          <p:cNvPr id="9" name="直接连接符 8"/>
          <p:cNvCxnSpPr/>
          <p:nvPr/>
        </p:nvCxnSpPr>
        <p:spPr>
          <a:xfrm>
            <a:off x="2451578" y="4274956"/>
            <a:ext cx="7491663" cy="0"/>
          </a:xfrm>
          <a:prstGeom prst="line">
            <a:avLst/>
          </a:prstGeom>
          <a:ln w="19050">
            <a:solidFill>
              <a:srgbClr val="003F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-128427" y="3146884"/>
            <a:ext cx="12448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Inverse Problem and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261" y="719382"/>
            <a:ext cx="50848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3.1 Parameters estimision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4568190" y="2466975"/>
          <a:ext cx="6885838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48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6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Stderr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Relerr(%)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95% Ci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AsymD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6.3519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1.9537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0.3076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3.0521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10.3990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0.4274</a:t>
                      </a:r>
                      <a:endParaRPr lang="en-US" altLang="zh-CN" sz="1600" b="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3.5544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0.3379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1.3986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6.2223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600" dirty="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582480" y="5378502"/>
            <a:ext cx="1640193" cy="338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condX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33.8878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4070" y="1346200"/>
            <a:ext cx="7797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Estimate parameters using inverse problem with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nlinfit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68190" y="4171315"/>
            <a:ext cx="2538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correlation matrix</a:t>
            </a:r>
            <a:endParaRPr lang="en-US" altLang="en-US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34365" y="1910715"/>
            <a:ext cx="3463290" cy="4628515"/>
          </a:xfrm>
          <a:prstGeom prst="roundRect">
            <a:avLst>
              <a:gd name="adj" fmla="val 8737"/>
            </a:avLst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4"/>
            </p:custDataLst>
          </p:nvPr>
        </p:nvGraphicFramePr>
        <p:xfrm>
          <a:off x="874395" y="2567940"/>
          <a:ext cx="2990850" cy="187325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9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logCc0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Tref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56.3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Tdiff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T0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5*10^-4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5"/>
            </p:custDataLst>
          </p:nvPr>
        </p:nvGraphicFramePr>
        <p:xfrm>
          <a:off x="874395" y="4441190"/>
          <a:ext cx="2990850" cy="177165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28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Hating rate (</a:t>
                      </a: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°C/min</a:t>
                      </a: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Y0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Tcrit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168.27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9.26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61.98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15.27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088390" y="1982470"/>
            <a:ext cx="26060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parameters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setting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4568190" y="1911350"/>
            <a:ext cx="31381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parameters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estimision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0297160" y="4033520"/>
            <a:ext cx="1156970" cy="40767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 algn="l"/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AsymD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&lt; z</a:t>
            </a:r>
            <a:endParaRPr lang="en-US" altLang="zh-CN" sz="1600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4568190" y="4504690"/>
            <a:ext cx="2621280" cy="2124710"/>
            <a:chOff x="7193" y="7396"/>
            <a:chExt cx="4128" cy="3346"/>
          </a:xfrm>
        </p:grpSpPr>
        <p:pic>
          <p:nvPicPr>
            <p:cNvPr id="18" name="图片 1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7275" y="7706"/>
              <a:ext cx="4047" cy="3036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7835" y="7396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AsymD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11"/>
              </p:custDataLst>
            </p:nvPr>
          </p:nvSpPr>
          <p:spPr>
            <a:xfrm>
              <a:off x="9230" y="7396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z</a:t>
              </a:r>
            </a:p>
          </p:txBody>
        </p:sp>
        <p:sp>
          <p:nvSpPr>
            <p:cNvPr id="22" name="文本框 21"/>
            <p:cNvSpPr txBox="1"/>
            <p:nvPr>
              <p:custDataLst>
                <p:tags r:id="rId12"/>
              </p:custDataLst>
            </p:nvPr>
          </p:nvSpPr>
          <p:spPr>
            <a:xfrm rot="16200000">
              <a:off x="6813" y="8311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AsymD</a:t>
              </a:r>
            </a:p>
          </p:txBody>
        </p:sp>
        <p:sp>
          <p:nvSpPr>
            <p:cNvPr id="23" name="文本框 22"/>
            <p:cNvSpPr txBox="1"/>
            <p:nvPr>
              <p:custDataLst>
                <p:tags r:id="rId13"/>
              </p:custDataLst>
            </p:nvPr>
          </p:nvSpPr>
          <p:spPr>
            <a:xfrm rot="16200000">
              <a:off x="6813" y="9601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z</a:t>
              </a:r>
            </a:p>
          </p:txBody>
        </p:sp>
        <p:sp>
          <p:nvSpPr>
            <p:cNvPr id="24" name="文本框 23"/>
            <p:cNvSpPr txBox="1"/>
            <p:nvPr>
              <p:custDataLst>
                <p:tags r:id="rId14"/>
              </p:custDataLst>
            </p:nvPr>
          </p:nvSpPr>
          <p:spPr>
            <a:xfrm>
              <a:off x="7835" y="8338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1.0000</a:t>
              </a:r>
            </a:p>
          </p:txBody>
        </p:sp>
        <p:sp>
          <p:nvSpPr>
            <p:cNvPr id="25" name="文本框 24"/>
            <p:cNvSpPr txBox="1"/>
            <p:nvPr>
              <p:custDataLst>
                <p:tags r:id="rId15"/>
              </p:custDataLst>
            </p:nvPr>
          </p:nvSpPr>
          <p:spPr>
            <a:xfrm>
              <a:off x="9230" y="9607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1.0000</a:t>
              </a:r>
            </a:p>
          </p:txBody>
        </p:sp>
        <p:sp>
          <p:nvSpPr>
            <p:cNvPr id="26" name="文本框 25"/>
            <p:cNvSpPr txBox="1"/>
            <p:nvPr>
              <p:custDataLst>
                <p:tags r:id="rId16"/>
              </p:custDataLst>
            </p:nvPr>
          </p:nvSpPr>
          <p:spPr>
            <a:xfrm>
              <a:off x="9237" y="8338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0.9984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17"/>
              </p:custDataLst>
            </p:nvPr>
          </p:nvSpPr>
          <p:spPr>
            <a:xfrm>
              <a:off x="7832" y="9607"/>
              <a:ext cx="119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0.9984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6099810" y="2991485"/>
            <a:ext cx="833755" cy="9715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0620375" y="2991485"/>
            <a:ext cx="782320" cy="4648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9622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The scaled sensitivity coefficients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099560" y="2019300"/>
            <a:ext cx="3989705" cy="2992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089265" y="2018030"/>
            <a:ext cx="3987800" cy="2991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13030" y="2019300"/>
            <a:ext cx="3986530" cy="299021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450850" y="1569085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0.15 °C/min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4414520" y="1551940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0.40 °C/min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427720" y="1551940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1.64 °C/min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93060" y="5426710"/>
            <a:ext cx="609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AsymD and z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 sufficiently large for estimation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 correlated.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5962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Ypred/yobs with CBs, PBs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42595" y="1750060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0.15 °C/min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406265" y="1732915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0.40 °C/min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8419465" y="1732915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1.64 °C/min</a:t>
            </a: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2201545"/>
            <a:ext cx="3986530" cy="29908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987165" y="2202815"/>
            <a:ext cx="3986530" cy="29895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081645" y="2202815"/>
            <a:ext cx="3985895" cy="29895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7035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3.4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Residuals scatter plot and histogram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534275" y="778510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0.15 °C/min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86180" y="1361440"/>
            <a:ext cx="4584065" cy="34378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933440" y="1372235"/>
            <a:ext cx="4565650" cy="342392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1375410" y="4851400"/>
            <a:ext cx="43948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additive errors = 0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zero mean measurement = 1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constant variance =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uncorrelated errors =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normal distribution of errors = 1</a:t>
            </a: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6116955" y="4851400"/>
            <a:ext cx="5083810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6. covariance matrix of the errors is completely known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 errorless independent variables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8. constant parameter vector =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7035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3.4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Residuals scatter plot and histogram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129020" y="1377950"/>
            <a:ext cx="4566285" cy="342455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7534275" y="778510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 0.40 °C/min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204595" y="1371600"/>
            <a:ext cx="4565650" cy="342392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1375410" y="4851400"/>
            <a:ext cx="43948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additive errors = 0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zero mean measurement = 1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constant variance =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uncorrelated errors =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normal distribution of errors = 1</a:t>
            </a: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6116955" y="4851400"/>
            <a:ext cx="5083810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6. covariance matrix of the errors is completely known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 errorless independent variables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8. constant parameter vector =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500" y="719455"/>
            <a:ext cx="7035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3.4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Residuals scatter plot and histogram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095365" y="1372235"/>
            <a:ext cx="4530725" cy="339788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7534275" y="778510"/>
            <a:ext cx="33108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Heating rate =1.64 °C/min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204595" y="1371600"/>
            <a:ext cx="4537075" cy="3402330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1375410" y="4851400"/>
            <a:ext cx="43948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additive errors = 0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zero mean measurement = 1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constant variance =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uncorrelated errors =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normal distribution of errors = 1</a:t>
            </a: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6116955" y="4851400"/>
            <a:ext cx="5083810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6. covariance matrix of the errors is completely known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7. errorless independent variables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8. constant parameter vector =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550894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0" y="0"/>
            <a:ext cx="3603812" cy="1550890"/>
          </a:xfrm>
          <a:prstGeom prst="parallelogram">
            <a:avLst>
              <a:gd name="adj" fmla="val 69509"/>
            </a:avLst>
          </a:prstGeom>
          <a:solidFill>
            <a:srgbClr val="2F5597"/>
          </a:solidFill>
          <a:ln>
            <a:solidFill>
              <a:srgbClr val="2F559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形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68" y="475734"/>
            <a:ext cx="2161308" cy="599425"/>
          </a:xfrm>
          <a:prstGeom prst="rect">
            <a:avLst/>
          </a:prstGeom>
        </p:spPr>
      </p:pic>
      <p:sp>
        <p:nvSpPr>
          <p:cNvPr id="62" name="任意多边形: 形状 61"/>
          <p:cNvSpPr/>
          <p:nvPr/>
        </p:nvSpPr>
        <p:spPr>
          <a:xfrm flipV="1">
            <a:off x="0" y="-4"/>
            <a:ext cx="1075765" cy="1550890"/>
          </a:xfrm>
          <a:custGeom>
            <a:avLst/>
            <a:gdLst>
              <a:gd name="connsiteX0" fmla="*/ 0 w 845081"/>
              <a:gd name="connsiteY0" fmla="*/ 695700 h 695700"/>
              <a:gd name="connsiteX1" fmla="*/ 845081 w 845081"/>
              <a:gd name="connsiteY1" fmla="*/ 695700 h 695700"/>
              <a:gd name="connsiteX2" fmla="*/ 0 w 845081"/>
              <a:gd name="connsiteY2" fmla="*/ 0 h 695700"/>
              <a:gd name="connsiteX3" fmla="*/ 0 w 845081"/>
              <a:gd name="connsiteY3" fmla="*/ 695700 h 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081" h="695700">
                <a:moveTo>
                  <a:pt x="0" y="695700"/>
                </a:moveTo>
                <a:lnTo>
                  <a:pt x="845081" y="695700"/>
                </a:lnTo>
                <a:lnTo>
                  <a:pt x="0" y="0"/>
                </a:lnTo>
                <a:lnTo>
                  <a:pt x="0" y="69570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7623" y="313776"/>
            <a:ext cx="6057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28427" y="3146884"/>
            <a:ext cx="12448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err="1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OptExp</a:t>
            </a:r>
            <a:r>
              <a:rPr lang="en-US" altLang="zh-CN" sz="60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Design and Bootstrap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000" y="602724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cxnSp>
        <p:nvCxnSpPr>
          <p:cNvPr id="9" name="直接连接符 8"/>
          <p:cNvCxnSpPr/>
          <p:nvPr/>
        </p:nvCxnSpPr>
        <p:spPr>
          <a:xfrm>
            <a:off x="2451578" y="4274956"/>
            <a:ext cx="7491663" cy="0"/>
          </a:xfrm>
          <a:prstGeom prst="line">
            <a:avLst/>
          </a:prstGeom>
          <a:ln w="19050">
            <a:solidFill>
              <a:srgbClr val="003F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261" y="719382"/>
            <a:ext cx="6016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4.1 Optimal Experimental Design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1" y="2983183"/>
            <a:ext cx="3963406" cy="2972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971" y="2983183"/>
            <a:ext cx="3963407" cy="29725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872" y="2983183"/>
            <a:ext cx="3963407" cy="297255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8593592" y="863150"/>
            <a:ext cx="2826973" cy="1993025"/>
            <a:chOff x="8025376" y="863150"/>
            <a:chExt cx="2826973" cy="199302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4982" y="863150"/>
              <a:ext cx="2657367" cy="1993025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8025376" y="1753317"/>
              <a:ext cx="1207114" cy="5990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78576" y="1598583"/>
            <a:ext cx="4271447" cy="753786"/>
            <a:chOff x="278576" y="1598583"/>
            <a:chExt cx="4271447" cy="7537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278576" y="1701295"/>
                  <a:ext cx="4271447" cy="5868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𝑙𝑜𝑔𝑁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𝑙𝑜𝑔𝑁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·</a:t>
                  </a:r>
                  <a:r>
                    <a:rPr lang="en-US" altLang="zh-CN" sz="24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a14:m>
                  <a:endPara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576" y="1701295"/>
                  <a:ext cx="4271447" cy="586892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1656579" y="1598583"/>
              <a:ext cx="1152989" cy="7537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1" name="直接箭头连接符 20"/>
          <p:cNvCxnSpPr>
            <a:stCxn id="19" idx="0"/>
            <a:endCxn id="25" idx="1"/>
          </p:cNvCxnSpPr>
          <p:nvPr/>
        </p:nvCxnSpPr>
        <p:spPr>
          <a:xfrm flipV="1">
            <a:off x="2233074" y="1431139"/>
            <a:ext cx="2065659" cy="167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298733" y="1246473"/>
            <a:ext cx="1908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know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892715" y="1594829"/>
            <a:ext cx="536088" cy="7537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4298733" y="2118831"/>
                <a:ext cx="3343245" cy="586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733" y="2118831"/>
                <a:ext cx="3343245" cy="586443"/>
              </a:xfrm>
              <a:prstGeom prst="rect">
                <a:avLst/>
              </a:prstGeom>
              <a:blipFill rotWithShape="1">
                <a:blip r:embed="rId10"/>
                <a:stretch>
                  <a:fillRect l="-13" t="-80" r="12" b="-9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/>
          <p:cNvCxnSpPr>
            <a:stCxn id="32" idx="2"/>
            <a:endCxn id="33" idx="1"/>
          </p:cNvCxnSpPr>
          <p:nvPr/>
        </p:nvCxnSpPr>
        <p:spPr>
          <a:xfrm>
            <a:off x="3160759" y="2348615"/>
            <a:ext cx="1137974" cy="63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916175" y="6082746"/>
            <a:ext cx="825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longer the Exp runs, the more accurate the parameter estimation will be.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261" y="719382"/>
            <a:ext cx="6016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4.2 Bootstrapping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61" y="1369982"/>
            <a:ext cx="6093263" cy="456994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31178" y="3919393"/>
            <a:ext cx="3356775" cy="25158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31178" y="1369982"/>
            <a:ext cx="3356775" cy="25158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108361" y="6138618"/>
            <a:ext cx="5322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Asymmetric,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smaller bands and closer to the truth  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550894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平行四边形 10"/>
          <p:cNvSpPr/>
          <p:nvPr/>
        </p:nvSpPr>
        <p:spPr>
          <a:xfrm>
            <a:off x="0" y="0"/>
            <a:ext cx="3603812" cy="1550890"/>
          </a:xfrm>
          <a:prstGeom prst="parallelogram">
            <a:avLst>
              <a:gd name="adj" fmla="val 69509"/>
            </a:avLst>
          </a:prstGeom>
          <a:solidFill>
            <a:srgbClr val="2F5597"/>
          </a:solidFill>
          <a:ln>
            <a:solidFill>
              <a:srgbClr val="2F5597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形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68" y="475734"/>
            <a:ext cx="2161308" cy="599425"/>
          </a:xfrm>
          <a:prstGeom prst="rect">
            <a:avLst/>
          </a:prstGeom>
        </p:spPr>
      </p:pic>
      <p:sp>
        <p:nvSpPr>
          <p:cNvPr id="62" name="任意多边形: 形状 61"/>
          <p:cNvSpPr/>
          <p:nvPr/>
        </p:nvSpPr>
        <p:spPr>
          <a:xfrm flipV="1">
            <a:off x="0" y="-4"/>
            <a:ext cx="1075765" cy="1550890"/>
          </a:xfrm>
          <a:custGeom>
            <a:avLst/>
            <a:gdLst>
              <a:gd name="connsiteX0" fmla="*/ 0 w 845081"/>
              <a:gd name="connsiteY0" fmla="*/ 695700 h 695700"/>
              <a:gd name="connsiteX1" fmla="*/ 845081 w 845081"/>
              <a:gd name="connsiteY1" fmla="*/ 695700 h 695700"/>
              <a:gd name="connsiteX2" fmla="*/ 0 w 845081"/>
              <a:gd name="connsiteY2" fmla="*/ 0 h 695700"/>
              <a:gd name="connsiteX3" fmla="*/ 0 w 845081"/>
              <a:gd name="connsiteY3" fmla="*/ 695700 h 69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081" h="695700">
                <a:moveTo>
                  <a:pt x="0" y="695700"/>
                </a:moveTo>
                <a:lnTo>
                  <a:pt x="845081" y="695700"/>
                </a:lnTo>
                <a:lnTo>
                  <a:pt x="0" y="0"/>
                </a:lnTo>
                <a:lnTo>
                  <a:pt x="0" y="695700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7623" y="313776"/>
            <a:ext cx="6057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5</a:t>
            </a:r>
            <a:endParaRPr lang="zh-CN" altLang="en-US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28427" y="3146884"/>
            <a:ext cx="12448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3F8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000" y="602724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cxnSp>
        <p:nvCxnSpPr>
          <p:cNvPr id="9" name="直接连接符 8"/>
          <p:cNvCxnSpPr/>
          <p:nvPr/>
        </p:nvCxnSpPr>
        <p:spPr>
          <a:xfrm>
            <a:off x="2451578" y="4274956"/>
            <a:ext cx="7491663" cy="0"/>
          </a:xfrm>
          <a:prstGeom prst="line">
            <a:avLst/>
          </a:prstGeom>
          <a:ln w="19050">
            <a:solidFill>
              <a:srgbClr val="003F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1" name="Picture 2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78" y="4257720"/>
            <a:ext cx="3105383" cy="2071734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pic>
        <p:nvPicPr>
          <p:cNvPr id="41" name="图形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586" y="1060292"/>
            <a:ext cx="4069413" cy="3052059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15032" y="871300"/>
          <a:ext cx="1732054" cy="48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r:id="rId8" imgW="1498600" imgH="419100" progId="Equation.DSMT4">
                  <p:embed/>
                </p:oleObj>
              </mc:Choice>
              <mc:Fallback>
                <p:oleObj r:id="rId8" imgW="1498600" imgH="4191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032" y="871300"/>
                        <a:ext cx="1732054" cy="486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19906" y="866995"/>
          <a:ext cx="2286548" cy="5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r:id="rId10" imgW="1676400" imgH="419100" progId="Equation.DSMT4">
                  <p:embed/>
                </p:oleObj>
              </mc:Choice>
              <mc:Fallback>
                <p:oleObj r:id="rId10" imgW="1676400" imgH="4191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906" y="866995"/>
                        <a:ext cx="2286548" cy="571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532384" y="1449612"/>
          <a:ext cx="1741013" cy="56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r:id="rId12" imgW="1307465" imgH="431800" progId="Equation.DSMT4">
                  <p:embed/>
                </p:oleObj>
              </mc:Choice>
              <mc:Fallback>
                <p:oleObj r:id="rId12" imgW="1307465" imgH="431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84" y="1449612"/>
                        <a:ext cx="1741013" cy="5662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15032" y="1463100"/>
          <a:ext cx="3398066" cy="5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r:id="rId14" imgW="2717800" imgH="457200" progId="Equation.DSMT4">
                  <p:embed/>
                </p:oleObj>
              </mc:Choice>
              <mc:Fallback>
                <p:oleObj r:id="rId14" imgW="2717800" imgH="4572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032" y="1463100"/>
                        <a:ext cx="3398066" cy="571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74709" y="2144336"/>
          <a:ext cx="3627698" cy="5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r:id="rId16" imgW="3149600" imgH="495300" progId="Equation.DSMT4">
                  <p:embed/>
                </p:oleObj>
              </mc:Choice>
              <mc:Fallback>
                <p:oleObj r:id="rId16" imgW="3149600" imgH="4953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09" y="2144336"/>
                        <a:ext cx="3627698" cy="571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856703" y="4743088"/>
            <a:ext cx="8205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parameter estimation is completed by initial guess, INV and bootstrapping.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help design a microbiologically safe process, to avoid fail dangerous or overly conservative heat process in food processing.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/>
          <p:nvPr>
            <p:custDataLst>
              <p:tags r:id="rId2"/>
            </p:custDataLst>
          </p:nvPr>
        </p:nvGraphicFramePr>
        <p:xfrm>
          <a:off x="1282432" y="2801988"/>
          <a:ext cx="5330079" cy="1186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43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>
                        <a:latin typeface="Times New Roman" panose="02020603050405020304" pitchFamily="18" charset="0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Parameters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Result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Stderr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Relerr(%)</a:t>
                      </a:r>
                    </a:p>
                  </a:txBody>
                  <a:tcPr marL="69482" marR="69482" marT="34741" marB="34741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95% Ci</a:t>
                      </a:r>
                    </a:p>
                  </a:txBody>
                  <a:tcPr marL="86545" marR="86545" marT="43273" marB="43273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AsymD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6.3519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1.9537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0.3076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3.0521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10.3990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3.5544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1.2000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0.3379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1.3986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6.2223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 flipV="1">
            <a:off x="-134680" y="6642846"/>
            <a:ext cx="12461360" cy="215153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3689" y="2119795"/>
            <a:ext cx="11424621" cy="112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Thank</a:t>
            </a:r>
            <a:r>
              <a:rPr kumimoji="0" lang="en-US" altLang="zh-CN" sz="6600" b="1" i="0" u="none" strike="noStrike" kern="1200" cap="none" spc="0" normalizeH="0" noProof="0" dirty="0">
                <a:ln>
                  <a:noFill/>
                </a:ln>
                <a:solidFill>
                  <a:srgbClr val="003F87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You for Your Attention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大气简约答辩类PPT模板"/>
  <p:tag name="KSO_WPP_MARK_KEY" val="9f8addc6-0d72-4ad4-a9a6-5a412fae3e4f"/>
  <p:tag name="COMMONDATA" val="eyJoZGlkIjoiNTIwODJmNmNiMDBmMTM3ZDY2Y2RlNzlmZDFjN2MxM2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16fee26-80b4-4091-bef6-e8cc27ee658c}"/>
  <p:tag name="TABLE_ENDDRAG_ORIGIN_RECT" val="195*128"/>
  <p:tag name="TABLE_ENDDRAG_RECT" val="64*114*195*1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ec56674-77af-4af4-bfc9-90cdcfb16b9e}"/>
  <p:tag name="TABLE_ENDDRAG_ORIGIN_RECT" val="235*147"/>
  <p:tag name="TABLE_ENDDRAG_RECT" val="68*203*235*14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f1e69b1-dcb5-4495-9451-37d18c637cf3}"/>
  <p:tag name="TABLE_ENDDRAG_ORIGIN_RECT" val="224*142"/>
  <p:tag name="TABLE_ENDDRAG_RECT" val="68*363*224*142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16fee26-80b4-4091-bef6-e8cc27ee658c}"/>
  <p:tag name="TABLE_ENDDRAG_ORIGIN_RECT" val="195*128"/>
  <p:tag name="TABLE_ENDDRAG_RECT" val="64*114*195*128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1012</Words>
  <Application>Microsoft Office PowerPoint</Application>
  <PresentationFormat>宽屏</PresentationFormat>
  <Paragraphs>206</Paragraphs>
  <Slides>23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PingFang SC</vt:lpstr>
      <vt:lpstr>等线</vt:lpstr>
      <vt:lpstr>微软雅黑</vt:lpstr>
      <vt:lpstr>微软雅黑 Light</vt:lpstr>
      <vt:lpstr>Arial</vt:lpstr>
      <vt:lpstr>Calibri Light</vt:lpstr>
      <vt:lpstr>Cambria Math</vt:lpstr>
      <vt:lpstr>Times New Roman</vt:lpstr>
      <vt:lpstr>Wingdings</vt:lpstr>
      <vt:lpstr>1_Office 主题​​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蓝色大气简约答辩类PPT模板</dc:title>
  <dc:creator>Windows 用户</dc:creator>
  <cp:lastModifiedBy>Zheng Yuanhao</cp:lastModifiedBy>
  <cp:revision>163</cp:revision>
  <dcterms:created xsi:type="dcterms:W3CDTF">2018-09-30T02:27:00Z</dcterms:created>
  <dcterms:modified xsi:type="dcterms:W3CDTF">2023-06-14T11:38:37Z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13BE89674B164A80843F7D13D26F1D74_12</vt:lpwstr>
  </property>
  <property fmtid="{D5CDD505-2E9C-101B-9397-08002B2CF9AE}" pid="3" name="KSOProductBuildVer">
    <vt:lpwstr>2052-11.1.0.14309</vt:lpwstr>
  </property>
</Properties>
</file>